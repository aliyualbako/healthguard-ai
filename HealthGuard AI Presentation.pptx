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C19A47-B079-4007-B9D1-6500D6C087E9}">
  <a:tblStyle styleId="{6CC19A47-B079-4007-B9D1-6500D6C087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0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9" Type="http://schemas.openxmlformats.org/officeDocument/2006/relationships/image" Target="../media/image80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42" Type="http://schemas.openxmlformats.org/officeDocument/2006/relationships/image" Target="../media/image8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41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40" Type="http://schemas.openxmlformats.org/officeDocument/2006/relationships/image" Target="../media/image81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4" Type="http://schemas.openxmlformats.org/officeDocument/2006/relationships/image" Target="../media/image85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6337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81600"/>
            <a:ext cx="50482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474" y="571499"/>
            <a:ext cx="2879725" cy="28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047750"/>
            <a:ext cx="5300662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HealthGuard</a:t>
            </a:r>
            <a:r>
              <a:rPr lang="en-US" sz="37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75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1571625"/>
            <a:ext cx="50482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AI-Powered Early Diabetes Risk Prediction &amp; Personalized Preventive Health Recommendation System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52475" y="5362575"/>
            <a:ext cx="2286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Ali Rilwan Bako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3152775" y="5362575"/>
            <a:ext cx="2286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Programme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3MTT Mentorship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52475" y="5791200"/>
            <a:ext cx="2286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Mentor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"/>
                <a:sym typeface="Inter SemiBold"/>
              </a:rPr>
              <a:t>Mr. </a:t>
            </a:r>
            <a:r>
              <a:rPr lang="en-US" sz="1200" dirty="0">
                <a:solidFill>
                  <a:srgbClr val="0F172A"/>
                </a:solidFill>
                <a:latin typeface="Inter SemiBold"/>
                <a:ea typeface="Inter SemiBold"/>
                <a:cs typeface="Inter"/>
                <a:sym typeface="Inter SemiBold"/>
              </a:rPr>
              <a:t>Isreal </a:t>
            </a:r>
            <a:r>
              <a:rPr lang="en-US" sz="1200" dirty="0" err="1">
                <a:solidFill>
                  <a:srgbClr val="0F172A"/>
                </a:solidFill>
                <a:latin typeface="Inter SemiBold"/>
                <a:ea typeface="Inter SemiBold"/>
                <a:cs typeface="Inter"/>
                <a:sym typeface="Inter SemiBold"/>
              </a:rPr>
              <a:t>Odeajo</a:t>
            </a:r>
            <a:r>
              <a:rPr lang="en-US" sz="1200" dirty="0">
                <a:solidFill>
                  <a:srgbClr val="0F172A"/>
                </a:solidFill>
                <a:latin typeface="Inter SemiBold"/>
                <a:ea typeface="Inter SemiBold"/>
                <a:cs typeface="Inter"/>
                <a:sym typeface="Inter SemiBold"/>
              </a:rPr>
              <a:t> </a:t>
            </a:r>
            <a:endParaRPr sz="1200" dirty="0"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652462"/>
            <a:ext cx="13335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43000"/>
            <a:ext cx="5381625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143000"/>
            <a:ext cx="5381625" cy="1036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12491"/>
            <a:ext cx="5381625" cy="1036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481982"/>
            <a:ext cx="5381625" cy="1036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06050" y="619125"/>
            <a:ext cx="1314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48400" y="1152525"/>
            <a:ext cx="5362575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1525" y="13430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1525" y="251251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1525" y="368200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00100" y="57435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95350" y="145732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343025" y="1343025"/>
            <a:ext cx="463057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Delayed Detection Risk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343025" y="1619250"/>
            <a:ext cx="4410075" cy="35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Diabetes is a major global health challenge. Millions remain undiagnosed until severe secondary complications arise.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71537" y="2626816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343025" y="2512516"/>
            <a:ext cx="463057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Barriers to Screening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343025" y="2788741"/>
            <a:ext cx="4410075" cy="35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Traditional screening requires clinical visits, lab blood work, and health professionals, limiting routine early access.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43025" y="3682007"/>
            <a:ext cx="463057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Escalating Healthcare Costs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343025" y="3958232"/>
            <a:ext cx="4410075" cy="35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 diagnostic expenses and lack of automated self-assessment tools prevent scalable proactive intervention.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295400" y="5629275"/>
            <a:ext cx="142398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PROJECT OBJECTIVE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295400" y="5791200"/>
            <a:ext cx="44291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Develop an AI-powered web app predicting diabetes risk from health metrics and auto-generating tailored preventive advice.</a:t>
            </a:r>
            <a:endParaRPr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1028700" y="476250"/>
            <a:ext cx="1112139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 &amp; Objectives</a:t>
            </a:r>
            <a:endParaRPr dirty="0"/>
          </a:p>
        </p:txBody>
      </p:sp>
      <p:sp>
        <p:nvSpPr>
          <p:cNvPr id="122" name="Google Shape;122;p14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43000"/>
            <a:ext cx="11049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47925"/>
            <a:ext cx="355595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447925"/>
            <a:ext cx="355595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447925"/>
            <a:ext cx="355609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667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77437" y="619125"/>
            <a:ext cx="1643062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97322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56668" y="1604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53915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13261" y="1604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310508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269855" y="1604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67102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448" y="1604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423695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83041" y="1604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980289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39635" y="1604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36882" y="1343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340197" y="14763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911078" y="14763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43858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000452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557045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099351" y="147637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670232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771525" y="26717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1038225" y="2647950"/>
            <a:ext cx="122015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Frontend Layer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33450" y="3067050"/>
            <a:ext cx="299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multi-step health assessment form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33450" y="3276600"/>
            <a:ext cx="299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form validation via React Hook Form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33450" y="3486150"/>
            <a:ext cx="299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Responsive UI with dynamic risk visualization</a:t>
            </a:r>
            <a:endParaRPr/>
          </a:p>
        </p:txBody>
      </p:sp>
      <p:pic>
        <p:nvPicPr>
          <p:cNvPr id="159" name="Google Shape;159;p15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517975" y="2671762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4765625" y="2647950"/>
            <a:ext cx="16202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API &amp; Services Layer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679900" y="3067050"/>
            <a:ext cx="299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High-performance FastAPI REST endpoint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679900" y="3276600"/>
            <a:ext cx="299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 Pydantic payload type checking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679900" y="3486150"/>
            <a:ext cx="299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CORS enabled for secure web API calls</a:t>
            </a:r>
            <a:endParaRPr/>
          </a:p>
        </p:txBody>
      </p:sp>
      <p:pic>
        <p:nvPicPr>
          <p:cNvPr id="164" name="Google Shape;164;p15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264425" y="26717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8531125" y="2647950"/>
            <a:ext cx="17602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ML &amp; Inference Engine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8426350" y="3067050"/>
            <a:ext cx="29941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Optimized LightGBM binary classifier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8426350" y="3276600"/>
            <a:ext cx="29941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probability scoring &amp; risk level output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426350" y="3486150"/>
            <a:ext cx="29941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Rule-based health recommendation generator</a:t>
            </a:r>
            <a:endParaRPr/>
          </a:p>
        </p:txBody>
      </p:sp>
      <p:pic>
        <p:nvPicPr>
          <p:cNvPr id="169" name="Google Shape;169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1525" y="309562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1525" y="330517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1525" y="351472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17975" y="309562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17975" y="330517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17975" y="351472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264425" y="309562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264425" y="3305175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264425" y="3514725"/>
            <a:ext cx="85725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076325" y="476250"/>
            <a:ext cx="1107138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Solution &amp; Architecture Overview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43000"/>
            <a:ext cx="35686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1550" y="1143000"/>
            <a:ext cx="3568749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51750" y="1143000"/>
            <a:ext cx="35686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705100"/>
            <a:ext cx="35686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11550" y="2705100"/>
            <a:ext cx="356874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51750" y="2705100"/>
            <a:ext cx="35686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971925"/>
            <a:ext cx="11048851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667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63150" y="619125"/>
            <a:ext cx="16573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1525" y="1323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1266825" y="1395412"/>
            <a:ext cx="97012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Languages</a:t>
            </a:r>
            <a:endParaRPr/>
          </a:p>
        </p:txBody>
      </p:sp>
      <p:pic>
        <p:nvPicPr>
          <p:cNvPr id="196" name="Google Shape;19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1525" y="1819275"/>
            <a:ext cx="9525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781175" y="18192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71525" y="2114550"/>
            <a:ext cx="10477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511575" y="1323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 txBox="1"/>
          <p:nvPr/>
        </p:nvSpPr>
        <p:spPr>
          <a:xfrm>
            <a:off x="5006875" y="1395412"/>
            <a:ext cx="7900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pic>
        <p:nvPicPr>
          <p:cNvPr id="201" name="Google Shape;201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511575" y="1819275"/>
            <a:ext cx="657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25950" y="1819275"/>
            <a:ext cx="933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6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216550" y="1819275"/>
            <a:ext cx="11811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11575" y="2114550"/>
            <a:ext cx="5334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251775" y="1323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8747075" y="1395412"/>
            <a:ext cx="10601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Backend API</a:t>
            </a:r>
            <a:endParaRPr/>
          </a:p>
        </p:txBody>
      </p:sp>
      <p:pic>
        <p:nvPicPr>
          <p:cNvPr id="207" name="Google Shape;207;p16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251775" y="1819275"/>
            <a:ext cx="6381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6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947100" y="1819275"/>
            <a:ext cx="962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9966275" y="1819275"/>
            <a:ext cx="704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771525" y="2886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 txBox="1"/>
          <p:nvPr/>
        </p:nvSpPr>
        <p:spPr>
          <a:xfrm>
            <a:off x="1266825" y="2957512"/>
            <a:ext cx="153019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/>
          </a:p>
        </p:txBody>
      </p:sp>
      <p:pic>
        <p:nvPicPr>
          <p:cNvPr id="212" name="Google Shape;212;p16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71525" y="3381375"/>
            <a:ext cx="7715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600200" y="3381375"/>
            <a:ext cx="857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6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514600" y="3381375"/>
            <a:ext cx="6381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6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209925" y="3381375"/>
            <a:ext cx="619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6" descr="image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4511575" y="2886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 txBox="1"/>
          <p:nvPr/>
        </p:nvSpPr>
        <p:spPr>
          <a:xfrm>
            <a:off x="5006875" y="2957512"/>
            <a:ext cx="82010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Dev Tools</a:t>
            </a:r>
            <a:endParaRPr/>
          </a:p>
        </p:txBody>
      </p:sp>
      <p:pic>
        <p:nvPicPr>
          <p:cNvPr id="218" name="Google Shape;218;p16" descr="image.png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511575" y="33813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6" descr="image.png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806975" y="3381375"/>
            <a:ext cx="704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6" descr="image.png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568975" y="3381375"/>
            <a:ext cx="885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6" descr="image.png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8251775" y="2886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8747075" y="2957512"/>
            <a:ext cx="123015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API Standards</a:t>
            </a:r>
            <a:endParaRPr/>
          </a:p>
        </p:txBody>
      </p:sp>
      <p:pic>
        <p:nvPicPr>
          <p:cNvPr id="223" name="Google Shape;223;p16" descr="image.png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8251775" y="3381375"/>
            <a:ext cx="9525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6" descr="image.png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9261425" y="3381375"/>
            <a:ext cx="10191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 descr="image.png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10337750" y="3381375"/>
            <a:ext cx="10477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/>
          <p:nvPr/>
        </p:nvSpPr>
        <p:spPr>
          <a:xfrm>
            <a:off x="809625" y="4143375"/>
            <a:ext cx="55206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Primary Dataset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809625" y="4362450"/>
            <a:ext cx="5257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CDC Behavioral Risk Factor Surveillance System (BRFSS 2015) Diabetes Health Indicators</a:t>
            </a:r>
            <a:endParaRPr/>
          </a:p>
        </p:txBody>
      </p:sp>
      <p:pic>
        <p:nvPicPr>
          <p:cNvPr id="228" name="Google Shape;228;p16" descr="image.png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852487" y="142875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6" descr="image.png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616350" y="14287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6" descr="image.png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8356550" y="14287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6" descr="image.png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876300" y="29908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6" descr="image.png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4616350" y="29908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6" descr="image.png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332737" y="299085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6" descr="image.png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09625" y="4181475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6"/>
          <p:cNvSpPr txBox="1"/>
          <p:nvPr/>
        </p:nvSpPr>
        <p:spPr>
          <a:xfrm>
            <a:off x="9486751" y="4133850"/>
            <a:ext cx="800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253,680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9486751" y="4391025"/>
            <a:ext cx="800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Survey Records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10515451" y="4133850"/>
            <a:ext cx="866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10515451" y="4391025"/>
            <a:ext cx="8667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Health Indicators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1076325" y="476250"/>
            <a:ext cx="1107138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43000"/>
            <a:ext cx="11049000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7000" y="619125"/>
            <a:ext cx="13335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7"/>
          <p:cNvSpPr txBox="1"/>
          <p:nvPr/>
        </p:nvSpPr>
        <p:spPr>
          <a:xfrm>
            <a:off x="1028700" y="476250"/>
            <a:ext cx="1112139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Methodology</a:t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43000"/>
            <a:ext cx="54102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10025"/>
            <a:ext cx="5410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67925" y="619125"/>
            <a:ext cx="15525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 txBox="1"/>
          <p:nvPr/>
        </p:nvSpPr>
        <p:spPr>
          <a:xfrm>
            <a:off x="6210300" y="1143000"/>
            <a:ext cx="568071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Application Interface </a:t>
            </a:r>
            <a:endParaRPr dirty="0"/>
          </a:p>
        </p:txBody>
      </p:sp>
      <p:sp>
        <p:nvSpPr>
          <p:cNvPr id="261" name="Google Shape;261;p18"/>
          <p:cNvSpPr txBox="1"/>
          <p:nvPr/>
        </p:nvSpPr>
        <p:spPr>
          <a:xfrm>
            <a:off x="733425" y="1304925"/>
            <a:ext cx="53406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 Evaluation Benchmarking</a:t>
            </a:r>
            <a:endParaRPr/>
          </a:p>
        </p:txBody>
      </p:sp>
      <p:graphicFrame>
        <p:nvGraphicFramePr>
          <p:cNvPr id="262" name="Google Shape;262;p18"/>
          <p:cNvGraphicFramePr/>
          <p:nvPr/>
        </p:nvGraphicFramePr>
        <p:xfrm>
          <a:off x="733425" y="1600200"/>
          <a:ext cx="5086350" cy="2114550"/>
        </p:xfrm>
        <a:graphic>
          <a:graphicData uri="http://schemas.openxmlformats.org/drawingml/2006/table">
            <a:tbl>
              <a:tblPr firstRow="1" bandRow="1">
                <a:noFill/>
                <a:tableStyleId>{6CC19A47-B079-4007-B9D1-6500D6C087E9}</a:tableStyleId>
              </a:tblPr>
              <a:tblGrid>
                <a:gridCol w="225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ROC-AUC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LightGBM Best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75.22%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83.05%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75.03%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82.85%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74.58%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82.32%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73.58%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81.20%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65.13%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65.15%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63" name="Google Shape;2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0" y="421957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/>
          <p:nvPr/>
        </p:nvSpPr>
        <p:spPr>
          <a:xfrm>
            <a:off x="733425" y="1924050"/>
            <a:ext cx="225072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2984152" y="1924050"/>
            <a:ext cx="14954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479577" y="1924050"/>
            <a:ext cx="134019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762000" y="4162425"/>
            <a:ext cx="413051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Performing Classifier: LightGBM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762000" y="4400550"/>
            <a:ext cx="39339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7" b="0" i="0" u="none" strike="noStrike" cap="non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Achieved top ROC-AUC (83.05%) with lightweight memory footprint.</a:t>
            </a:r>
            <a:endParaRPr sz="2000"/>
          </a:p>
        </p:txBody>
      </p:sp>
      <p:sp>
        <p:nvSpPr>
          <p:cNvPr id="275" name="Google Shape;275;p18"/>
          <p:cNvSpPr/>
          <p:nvPr/>
        </p:nvSpPr>
        <p:spPr>
          <a:xfrm>
            <a:off x="733425" y="2290762"/>
            <a:ext cx="22507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2984152" y="2290762"/>
            <a:ext cx="14954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4479577" y="2290762"/>
            <a:ext cx="13401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733425" y="2643187"/>
            <a:ext cx="22507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2984152" y="2643187"/>
            <a:ext cx="14954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479577" y="2643187"/>
            <a:ext cx="13401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733425" y="2995612"/>
            <a:ext cx="22507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2984152" y="2995612"/>
            <a:ext cx="14954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4479577" y="2995612"/>
            <a:ext cx="13401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733425" y="3348037"/>
            <a:ext cx="22507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2984152" y="3348037"/>
            <a:ext cx="14954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4479577" y="3348037"/>
            <a:ext cx="13401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733425" y="3700462"/>
            <a:ext cx="22507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2984152" y="3700462"/>
            <a:ext cx="14954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4479577" y="3700462"/>
            <a:ext cx="13401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81150" y="2057400"/>
            <a:ext cx="4095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8"/>
          <p:cNvSpPr txBox="1"/>
          <p:nvPr/>
        </p:nvSpPr>
        <p:spPr>
          <a:xfrm>
            <a:off x="1028700" y="476250"/>
            <a:ext cx="1112139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 &amp; Demonstration</a:t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0D29A-9319-7484-6745-971A5635BE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5785" y="1398515"/>
            <a:ext cx="2770318" cy="1631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123A8B-AA1C-A28C-9F09-65270C490C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5785" y="3284537"/>
            <a:ext cx="2914726" cy="13158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CD43E-19C6-3441-0D6B-7F9E376DF3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6841" y="4665268"/>
            <a:ext cx="4608234" cy="20994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43000"/>
            <a:ext cx="35686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1550" y="1143000"/>
            <a:ext cx="3568749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51750" y="1143000"/>
            <a:ext cx="35686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33800"/>
            <a:ext cx="11048851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6673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91700" y="619125"/>
            <a:ext cx="18288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9"/>
          <p:cNvSpPr txBox="1"/>
          <p:nvPr/>
        </p:nvSpPr>
        <p:spPr>
          <a:xfrm>
            <a:off x="990600" y="1343025"/>
            <a:ext cx="309694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Key Achievements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4730650" y="1343025"/>
            <a:ext cx="309710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Challenges Overcome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470850" y="1343025"/>
            <a:ext cx="309694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Future Enhancements</a:t>
            </a:r>
            <a:endParaRPr/>
          </a:p>
        </p:txBody>
      </p:sp>
      <p:pic>
        <p:nvPicPr>
          <p:cNvPr id="307" name="Google Shape;30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138112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9"/>
          <p:cNvSpPr txBox="1"/>
          <p:nvPr/>
        </p:nvSpPr>
        <p:spPr>
          <a:xfrm>
            <a:off x="942975" y="1695450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 end-to-end AI diabetes risk app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942975" y="1957387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Trained &amp; evaluated 5 ML algorithms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942975" y="2219325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Selected LightGBM as optimal model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942975" y="2481262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Engineered FastAPI REST service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942975" y="2743200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Integrated React UI with AI backend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942975" y="3005137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Generated tailored health advice</a:t>
            </a:r>
            <a:endParaRPr/>
          </a:p>
        </p:txBody>
      </p:sp>
      <p:pic>
        <p:nvPicPr>
          <p:cNvPr id="314" name="Google Shape;31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11575" y="138112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4683025" y="1695450"/>
            <a:ext cx="2997249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Addressing class imbalance in dataset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4683025" y="1957387"/>
            <a:ext cx="2997249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Optimizing model hyperparameters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4683025" y="2219325"/>
            <a:ext cx="2997249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Managing REST API integrations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4683025" y="2481262"/>
            <a:ext cx="2997249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Handling CORS security policies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4683025" y="2743200"/>
            <a:ext cx="2997249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Seamless frontend-backend state communication</a:t>
            </a:r>
            <a:endParaRPr/>
          </a:p>
        </p:txBody>
      </p:sp>
      <p:pic>
        <p:nvPicPr>
          <p:cNvPr id="320" name="Google Shape;320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51775" y="138112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9"/>
          <p:cNvSpPr txBox="1"/>
          <p:nvPr/>
        </p:nvSpPr>
        <p:spPr>
          <a:xfrm>
            <a:off x="8423225" y="1695450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Explainable AI (SHAP / LIME)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8423225" y="1957387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 to multi-disease prediction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8423225" y="2219325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iOS / Android mobile application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8423225" y="2481262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Electronic Health Record (EHR) integration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8423225" y="2743200"/>
            <a:ext cx="29971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deployment (AWS / Azure)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857250" y="3905250"/>
            <a:ext cx="2400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857250" y="4219575"/>
            <a:ext cx="2286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&amp; Discussions Welcome</a:t>
            </a:r>
            <a:endParaRPr/>
          </a:p>
        </p:txBody>
      </p:sp>
      <p:pic>
        <p:nvPicPr>
          <p:cNvPr id="328" name="Google Shape;328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905976" y="397192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9"/>
          <p:cNvSpPr txBox="1"/>
          <p:nvPr/>
        </p:nvSpPr>
        <p:spPr>
          <a:xfrm>
            <a:off x="771525" y="1695450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771525" y="1957387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771525" y="2219325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771525" y="2481262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771525" y="2743200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771525" y="3005137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4511575" y="1695450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4511575" y="1957387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4511575" y="2219325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4511575" y="2481262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4511575" y="2743200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8251775" y="1695450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8251775" y="1957387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8251775" y="2219325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8251775" y="2481262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8251775" y="2743200"/>
            <a:ext cx="57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990600" y="476250"/>
            <a:ext cx="1116139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Future Scope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378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Arial</vt:lpstr>
      <vt:lpstr>Poppins</vt:lpstr>
      <vt:lpstr>Inter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AliyuAlbako</dc:creator>
  <cp:lastModifiedBy>AliyuAlbako</cp:lastModifiedBy>
  <cp:revision>4</cp:revision>
  <dcterms:modified xsi:type="dcterms:W3CDTF">2026-08-01T22:19:54Z</dcterms:modified>
</cp:coreProperties>
</file>